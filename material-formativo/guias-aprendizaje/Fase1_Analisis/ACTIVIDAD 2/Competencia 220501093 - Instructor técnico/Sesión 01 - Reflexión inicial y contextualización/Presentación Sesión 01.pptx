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a3c33846-743b-a096-7481-7a56770411a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Presente la actividad de aprendizaje 2 y explique que la guía es integrada con matemáticas: el instructor de matemáticas acompañará la segunda parte de la reflexión inicial (caso cuantitativo de la unidad productiva).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 los objetivos con el grupo. Resalte que esta sesión no se califica con nota: el cuestionario diagnóstico sirve para ajustar la formación.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Tiempos aproximados para 8 horas, incluidos descansos. La reflexión inicial ocupa las dos primeras horas.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Pida 3 o 4 respuestas en voz alta. Anote en el tablero palabras clave: comunicación, suposiciones, cambios, falta de documentación.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Proyecte la imagen clásica del columpio del árbol (búsquela como 'tree swing project management'). En parejas, los aprendices completan la hoja de observación: ¿en qué paso se perdió la información? ¿qué artefacto lo habría evitado?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Conecte cada práctica con lo que harán en las sesiones 02 a 09. El punto de 'datos medibles' es el puente con la competencia de matemáticas.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 la situación problémica completa del numeral 3.1 de la guía. Pida a cada equipo escribirla en su bitácora de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preguntas y la clave están en el archivo 'Instrumentos de evaluación - Sesión 01'. Cárguelas previamente en la plataforma elegida. Analice las preguntas con menor acierto: indican qué reforzar.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la técnica de pregunta–pausa–selección aleatoria. Registre las respuestas en el tablero para retomarlas en las siguientes sesiones.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Verifique que cada equipo identifique por lo menos 3 actores, 6 funciones, 3 reglas de negocio y 4 variables cuantitativas. Este mapa es el insumo de las sesiones 02 y 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con la frase de la guía: «Lo que no se analiza, no se puede automatizar». Recuerde la lectura previa para la sesión 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030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320040"/>
            <a:ext cx="731520" cy="69494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00200"/>
            <a:ext cx="74980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228600"/>
            <a:ext cx="411480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ADSO 228118 · Competencia 220501093 · Sesión 01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rgbClr val="0030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228600"/>
            <a:ext cx="411480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D3"/>
                </a:solidFill>
              </a:rPr>
              <a:t>ADSO 228118 · Competencia 220501093 · Sesión 01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7D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01 · INSTRUCTOR TÉCNICO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Tecnólogo en Análisis y Desarrollo de Software 228118 · Fase 1: Análisis · Actividad de aprendizaje 2</a:t>
            </a:r>
            <a:endParaRPr lang="en-US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1600200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problema del cliente al análisis del software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Reflexión inicial y contextualización: por qué fallan los proyectos cuando no se analizan los requisitos y qué sabemos hoy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069080"/>
            <a:ext cx="2478024" cy="347472"/>
          </a:xfrm>
          <a:prstGeom prst="roundRect">
            <a:avLst>
              <a:gd name="adj" fmla="val 21053"/>
            </a:avLst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069080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 220501093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9544" y="4069080"/>
            <a:ext cx="2176272" cy="347472"/>
          </a:xfrm>
          <a:prstGeom prst="roundRect">
            <a:avLst>
              <a:gd name="adj" fmla="val 21053"/>
            </a:avLst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9544" y="406908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 01–04 (inicio)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68696" y="406908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568696" y="40690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horas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Propósito de la sesión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120640" cy="3474720"/>
          </a:xfrm>
          <a:prstGeom prst="roundRect">
            <a:avLst>
              <a:gd name="adj" fmla="val 2632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47548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la sesión, el aprendiz estará en capacidad de: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00200"/>
            <a:ext cx="475488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</a:t>
            </a: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 qué los requisitos mal comprendidos hacen fracasar un proyecto de software.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</a:t>
            </a: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sus conocimientos previos sobre ciclo de vida, metodologías, UML y algoritmos.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Relacionar</a:t>
            </a: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actores, funciones, reglas de negocio y variables del proceso objeto de intervención.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</a:t>
            </a: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ruta de trabajo y las evidencias de la actividad de aprendizaje 2.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852160" y="1051560"/>
            <a:ext cx="2834640" cy="1600200"/>
          </a:xfrm>
          <a:prstGeom prst="roundRect">
            <a:avLst>
              <a:gd name="adj" fmla="val 5714"/>
            </a:avLst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1143000"/>
            <a:ext cx="28346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1965960"/>
            <a:ext cx="28346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de formación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52160" y="2834640"/>
            <a:ext cx="2834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89320" y="2926080"/>
            <a:ext cx="260604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 aprendizaje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competencia 220501093: planear, modelar, construir la lógica y verificar el análisis del software.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Ruta de la sesión</a:t>
            </a:r>
            <a:endParaRPr lang="en-US" sz="2400" dirty="0"/>
          </a:p>
        </p:txBody>
      </p:sp>
      <p:sp>
        <p:nvSpPr>
          <p:cNvPr id="3" name="num1"/>
          <p:cNvSpPr/>
          <p:nvPr/>
        </p:nvSpPr>
        <p:spPr>
          <a:xfrm>
            <a:off x="502920" y="1152144"/>
            <a:ext cx="384048" cy="384048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152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097280"/>
            <a:ext cx="5394960" cy="45066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Rompehielo: «Mi app favorita y el problema que resuelve»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583680" y="1097280"/>
            <a:ext cx="2011680" cy="45066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7" name="num2"/>
          <p:cNvSpPr/>
          <p:nvPr/>
        </p:nvSpPr>
        <p:spPr>
          <a:xfrm>
            <a:off x="502920" y="1648533"/>
            <a:ext cx="384048" cy="384048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64853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593669"/>
            <a:ext cx="5394960" cy="45066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«el columpio del árbol»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1593669"/>
            <a:ext cx="2011680" cy="45066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1300" dirty="0"/>
          </a:p>
        </p:txBody>
      </p:sp>
      <p:sp>
        <p:nvSpPr>
          <p:cNvPr id="11" name="num3"/>
          <p:cNvSpPr/>
          <p:nvPr/>
        </p:nvSpPr>
        <p:spPr>
          <a:xfrm>
            <a:off x="502920" y="2144921"/>
            <a:ext cx="384048" cy="384048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214492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090057"/>
            <a:ext cx="5394960" cy="45066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 problémica de la guía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090057"/>
            <a:ext cx="2011680" cy="45066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300" dirty="0"/>
          </a:p>
        </p:txBody>
      </p:sp>
      <p:sp>
        <p:nvSpPr>
          <p:cNvPr id="15" name="num4"/>
          <p:cNvSpPr/>
          <p:nvPr/>
        </p:nvSpPr>
        <p:spPr>
          <a:xfrm>
            <a:off x="502920" y="2641310"/>
            <a:ext cx="384048" cy="384048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264131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586446"/>
            <a:ext cx="5394960" cy="45066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Cuestionario diagnóstico interactivo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2586446"/>
            <a:ext cx="2011680" cy="45066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1300" dirty="0"/>
          </a:p>
        </p:txBody>
      </p:sp>
      <p:sp>
        <p:nvSpPr>
          <p:cNvPr id="19" name="num5"/>
          <p:cNvSpPr/>
          <p:nvPr/>
        </p:nvSpPr>
        <p:spPr>
          <a:xfrm>
            <a:off x="502920" y="3137698"/>
            <a:ext cx="384048" cy="384048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313769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3082834"/>
            <a:ext cx="5394960" cy="45066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dirigidas y socialización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3082834"/>
            <a:ext cx="2011680" cy="45066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</a:t>
            </a:r>
            <a:endParaRPr lang="en-US" sz="1300" dirty="0"/>
          </a:p>
        </p:txBody>
      </p:sp>
      <p:sp>
        <p:nvSpPr>
          <p:cNvPr id="23" name="num6"/>
          <p:cNvSpPr/>
          <p:nvPr/>
        </p:nvSpPr>
        <p:spPr>
          <a:xfrm>
            <a:off x="502920" y="3634087"/>
            <a:ext cx="384048" cy="384048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2920" y="363408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3579223"/>
            <a:ext cx="5394960" cy="45066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mental del proceso del proyecto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3579223"/>
            <a:ext cx="2011680" cy="45066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min</a:t>
            </a:r>
            <a:endParaRPr lang="en-US" sz="1300" dirty="0"/>
          </a:p>
        </p:txBody>
      </p:sp>
      <p:sp>
        <p:nvSpPr>
          <p:cNvPr id="27" name="num7"/>
          <p:cNvSpPr/>
          <p:nvPr/>
        </p:nvSpPr>
        <p:spPr>
          <a:xfrm>
            <a:off x="502920" y="4130475"/>
            <a:ext cx="384048" cy="384048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02920" y="413047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051560" y="4075611"/>
            <a:ext cx="5394960" cy="45066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Socialización y cierre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0" y="4075611"/>
            <a:ext cx="2011680" cy="45066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7680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Reflexión inicial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768096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un software puede funcionar perfectamente… y aun así no servirle al cliente?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337560"/>
            <a:ext cx="76809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Piense en una aplicación que haya usado y que no hacía lo que usted esperaba. ¿Dónde se perdió la información?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7D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El columpio del árbol: cinco versiones de un mismo pedido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rol interpreta el requisito a su manera cuando no existe un análisis compartido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514246" cy="3063240"/>
          </a:xfrm>
          <a:prstGeom prst="roundRect">
            <a:avLst>
              <a:gd name="adj" fmla="val 4831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5" name="num1"/>
          <p:cNvSpPr/>
          <p:nvPr/>
        </p:nvSpPr>
        <p:spPr>
          <a:xfrm>
            <a:off x="985723" y="1645920"/>
            <a:ext cx="457200" cy="45720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85723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94560"/>
            <a:ext cx="133136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pidió el cliente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834640"/>
            <a:ext cx="129479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descripción verbal, incompleta y con supuestos implícitos.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136038" y="1508760"/>
            <a:ext cx="1514246" cy="3063240"/>
          </a:xfrm>
          <a:prstGeom prst="roundRect">
            <a:avLst>
              <a:gd name="adj" fmla="val 4831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0" name="num2"/>
          <p:cNvSpPr/>
          <p:nvPr/>
        </p:nvSpPr>
        <p:spPr>
          <a:xfrm>
            <a:off x="2664562" y="1645920"/>
            <a:ext cx="457200" cy="45720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64562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227478" y="2194560"/>
            <a:ext cx="133136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entendió el analista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245766" y="2834640"/>
            <a:ext cx="129479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interpretación sin validar, que agrega o elimina detalles.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814877" y="1508760"/>
            <a:ext cx="1514246" cy="3063240"/>
          </a:xfrm>
          <a:prstGeom prst="roundRect">
            <a:avLst>
              <a:gd name="adj" fmla="val 4831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15" name="num3"/>
          <p:cNvSpPr/>
          <p:nvPr/>
        </p:nvSpPr>
        <p:spPr>
          <a:xfrm>
            <a:off x="4343400" y="1645920"/>
            <a:ext cx="457200" cy="45720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434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906317" y="2194560"/>
            <a:ext cx="133136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diseñó el arquitecto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924605" y="2834640"/>
            <a:ext cx="129479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solución técnica sobre una base equivocada.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93715" y="1508760"/>
            <a:ext cx="1514246" cy="3063240"/>
          </a:xfrm>
          <a:prstGeom prst="roundRect">
            <a:avLst>
              <a:gd name="adj" fmla="val 4831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20" name="num4"/>
          <p:cNvSpPr/>
          <p:nvPr/>
        </p:nvSpPr>
        <p:spPr>
          <a:xfrm>
            <a:off x="6022238" y="1645920"/>
            <a:ext cx="457200" cy="45720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22238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585155" y="2194560"/>
            <a:ext cx="133136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construyó el programador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603443" y="2834640"/>
            <a:ext cx="129479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que cumple el diseño, no la necesidad.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172554" y="1508760"/>
            <a:ext cx="1514246" cy="3063240"/>
          </a:xfrm>
          <a:prstGeom prst="roundRect">
            <a:avLst>
              <a:gd name="adj" fmla="val 4831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25" name="num5"/>
          <p:cNvSpPr/>
          <p:nvPr/>
        </p:nvSpPr>
        <p:spPr>
          <a:xfrm>
            <a:off x="7701077" y="1645920"/>
            <a:ext cx="457200" cy="45720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01077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263994" y="2194560"/>
            <a:ext cx="133136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necesitaba el cliente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282282" y="2834640"/>
            <a:ext cx="129479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mucho más simple, que nadie preguntó.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¿Qué habría evitado el error?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77640" cy="502920"/>
          </a:xfrm>
          <a:prstGeom prst="roundRect">
            <a:avLst>
              <a:gd name="adj" fmla="val 14545"/>
            </a:avLst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051560"/>
            <a:ext cx="3749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Prácticas de análisis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691640"/>
            <a:ext cx="3886200" cy="2880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 y validación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requisitos con el cliente.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visuales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(casos de uso, actividades) que el cliente entiende.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Prototipos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tempranos para confirmar la idea.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de chequeo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trazabilidad requisito–artefacto.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09160" y="1051560"/>
            <a:ext cx="3977640" cy="502920"/>
          </a:xfrm>
          <a:prstGeom prst="roundRect">
            <a:avLst>
              <a:gd name="adj" fmla="val 14545"/>
            </a:avLst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051560"/>
            <a:ext cx="3749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Prácticas de equipo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691640"/>
            <a:ext cx="3886200" cy="2880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acordada y roles claros.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cortas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retroalimentación frecuente.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medibles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los requisitos: tiempos, cantidades, límites.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versionada y compartida.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7680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 problémica de la guía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768096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planear, modelar, construir la lógica y verificar el análisis de nuestra solución de software, con requisitos precisos y medibles?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337560"/>
            <a:ext cx="76809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equipo ya tiene la información recolectada del proceso objeto de intervención. Ahora debe convertirla en un análisis sólido.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7D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Cuestionario diagnóstico interactivo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51206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vamos a hacer?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512064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Ingrese al enlace o código que comparte el instructor (Kahoot, Quizizz o Google Forms).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Responda las 15 preguntas sin consultar: es un diagnóstico, no una nota.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los resultados del grupo pregunta por pregunta.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Anote en su bitácora los dos temas en los que se siente menos seguro.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72200" y="105156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124712"/>
            <a:ext cx="2286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minutos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205740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2130552"/>
            <a:ext cx="2286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306324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3136392"/>
            <a:ext cx="2286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del cuestionario diagnóstico y registro en la bitácora personal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Preguntas dirigidas para activar saberes previos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645920"/>
          </a:xfrm>
          <a:prstGeom prst="roundRect">
            <a:avLst>
              <a:gd name="adj" fmla="val 4444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4" name="num1"/>
          <p:cNvSpPr/>
          <p:nvPr/>
        </p:nvSpPr>
        <p:spPr>
          <a:xfrm>
            <a:off x="621792" y="1216152"/>
            <a:ext cx="365760" cy="36576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216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78992" y="1188720"/>
            <a:ext cx="32689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vs. función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709928"/>
            <a:ext cx="367131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diferencia existe entre un requisito y una función del software?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645920"/>
          </a:xfrm>
          <a:prstGeom prst="roundRect">
            <a:avLst>
              <a:gd name="adj" fmla="val 444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9" name="num2"/>
          <p:cNvSpPr/>
          <p:nvPr/>
        </p:nvSpPr>
        <p:spPr>
          <a:xfrm>
            <a:off x="4850892" y="1216152"/>
            <a:ext cx="365760" cy="36576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50892" y="1216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308092" y="1188720"/>
            <a:ext cx="32689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50892" y="1709928"/>
            <a:ext cx="367131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una metodología de desarrollo y por qué no sirve la misma para todos los proyectos?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4000500" cy="1645920"/>
          </a:xfrm>
          <a:prstGeom prst="roundRect">
            <a:avLst>
              <a:gd name="adj" fmla="val 4444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14" name="num3"/>
          <p:cNvSpPr/>
          <p:nvPr/>
        </p:nvSpPr>
        <p:spPr>
          <a:xfrm>
            <a:off x="621792" y="3090672"/>
            <a:ext cx="365760" cy="36576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78992" y="3063240"/>
            <a:ext cx="32689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sin código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" y="3584448"/>
            <a:ext cx="367131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representa lo que hace un sistema sin escribir una línea de código?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686300" y="2926080"/>
            <a:ext cx="4000500" cy="1645920"/>
          </a:xfrm>
          <a:prstGeom prst="roundRect">
            <a:avLst>
              <a:gd name="adj" fmla="val 444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9" name="num4"/>
          <p:cNvSpPr/>
          <p:nvPr/>
        </p:nvSpPr>
        <p:spPr>
          <a:xfrm>
            <a:off x="4850892" y="3090672"/>
            <a:ext cx="365760" cy="36576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50892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08092" y="3063240"/>
            <a:ext cx="32689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del proceso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50892" y="3584448"/>
            <a:ext cx="367131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variables numéricas del proceso (tiempos, cantidades, costos) debe procesar el software?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Mapa mental del proceso objeto de intervención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51206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vamos a hacer?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512064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el informe de requisitos y la información recolectada en la actividad anterior.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Ubique en el centro el nombre del proceso intervenido.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Agregue cuatro ramas: actores, funciones del software, reglas de negocio y variables cuantitativas.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colores distintos para cada rama y conecte los elementos relacionados.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una socialización de 5 minutos.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72200" y="105156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124712"/>
            <a:ext cx="2286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minutos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205740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2130552"/>
            <a:ext cx="2286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proyecto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306324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3136392"/>
            <a:ext cx="2286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mental del proceso (pliego o herramienta digital: Canva, MindMeister, draw.io)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 y evaluación de la sesión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0B4366"/>
          </a:solidFill>
          <a:ln w="12700">
            <a:solidFill>
              <a:srgbClr val="0B436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645920"/>
            <a:ext cx="2340864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observación del caso del columpio.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del cuestionario diagnóstico.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mental del proceso del proyecto.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09728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0B4366"/>
          </a:solidFill>
          <a:ln w="12700">
            <a:solidFill>
              <a:srgbClr val="0B436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01568" y="1645920"/>
            <a:ext cx="2340864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Cuestionario diagnóstico (15 preguntas, con clave).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verificación del mapa mental.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09728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0B4366"/>
          </a:solidFill>
          <a:ln w="12700">
            <a:solidFill>
              <a:srgbClr val="0B436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próxima sesión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144768" y="1645920"/>
            <a:ext cx="2340864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Traer el informe de requisitos del proyecto.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«La Guía Scrum» (2020), secciones 1 a 3.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02: metodologías de desarrollo de software.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7D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NA ADSO">
  <a:themeElements>
    <a:clrScheme name="SENA ADSO">
      <a:dk1>
        <a:srgbClr val="1F2A33"/>
      </a:dk1>
      <a:lt1>
        <a:srgbClr val="FFFFFF"/>
      </a:lt1>
      <a:dk2>
        <a:srgbClr val="00304D"/>
      </a:dk2>
      <a:lt2>
        <a:srgbClr val="EEF5EA"/>
      </a:lt2>
      <a:accent1>
        <a:srgbClr val="39A900"/>
      </a:accent1>
      <a:accent2>
        <a:srgbClr val="00304D"/>
      </a:accent2>
      <a:accent3>
        <a:srgbClr val="50E5F9"/>
      </a:accent3>
      <a:accent4>
        <a:srgbClr val="FDC300"/>
      </a:accent4>
      <a:accent5>
        <a:srgbClr val="5A6B78"/>
      </a:accent5>
      <a:accent6>
        <a:srgbClr val="2E7D32"/>
      </a:accent6>
      <a:hlink>
        <a:srgbClr val="007BB8"/>
      </a:hlink>
      <a:folHlink>
        <a:srgbClr val="5A6B78"/>
      </a:folHlink>
    </a:clrScheme>
    <a:fontScheme name="SENA ADS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01 – Del problema del cliente al análisis del software</dc:title>
  <dc:subject>PptxGenJS Presentation</dc:subject>
  <dc:creator>SENA – Centro Agroempresarial y Desarrollo Pecuario del Huila</dc:creator>
  <cp:lastModifiedBy>SENA – Centro Agroempresarial y Desarrollo Pecuario del Huila</cp:lastModifiedBy>
  <cp:revision>1</cp:revision>
  <dcterms:created xsi:type="dcterms:W3CDTF">2026-10-07T09:29:04Z</dcterms:created>
  <dcterms:modified xsi:type="dcterms:W3CDTF">2026-10-07T09:29:04Z</dcterms:modified>
</cp:coreProperties>
</file>