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c93b6465-9fa9-73c3-97f4-3abf8bdd55e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Apropiación del RAP 04. Prepare con anticipación el informe de análisis de ejemplo con errores intencionales (está descrito en la guía de actividades).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Criterios del RAP 04: elabora listas de chequeo, evalúa el informe, realiza mejoras y prototipo inicial.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plantilla del informe está en la guía de actividades de la sesión 09.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Agregue verificabilidad y comprensibilidad (estándar ISO/IEC/IEEE 29148). Estos criterios son la base del mapa conceptual.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Pregunte: ¿qué significa la fila RF-06 vacía? Respuesta: el requisito no fue modelado; es un hallazgo de la verificación.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con las listas que han usado los instructores para evaluar: es el mismo instrumento.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prototipo de esta fase no requiere colores definitivos; esos se definen en la fase de Planeación (interfaz gráfica).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Valore con la rúbrica del mapa conceptual.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Errores sembrados: ver la nota para el instructor en la guía de actividades.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con la lista de chequeo modelo construida colectivamente.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030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320040"/>
            <a:ext cx="731520" cy="69494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00200"/>
            <a:ext cx="74980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228600"/>
            <a:ext cx="411480" cy="393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ADSO 228118 · Competencia 220501093 · Sesión 08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rgbClr val="0030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228600"/>
            <a:ext cx="411480" cy="393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D3"/>
                </a:solidFill>
              </a:rPr>
              <a:t>ADSO 228118 · Competencia 220501093 · Sesión 08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7D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08 · INSTRUCTOR TÉCNICO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Tecnólogo en Análisis y Desarrollo de Software 228118 · Fase 1: Análisis · Actividad de aprendizaje 2</a:t>
            </a:r>
            <a:endParaRPr lang="en-US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1600200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los modelos del análisis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Apropiación – Sub actividad 4: informe de análisis, listas de chequeo, trazabilidad y prototipo inicial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069080"/>
            <a:ext cx="2478024" cy="347472"/>
          </a:xfrm>
          <a:prstGeom prst="roundRect">
            <a:avLst>
              <a:gd name="adj" fmla="val 21053"/>
            </a:avLst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069080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 220501093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9544" y="406908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9544" y="40690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 04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81144" y="406908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81144" y="40690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horas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Propósito de la sesión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120640" cy="3474720"/>
          </a:xfrm>
          <a:prstGeom prst="roundRect">
            <a:avLst>
              <a:gd name="adj" fmla="val 2632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47548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la sesión, el aprendiz estará en capacidad de: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00200"/>
            <a:ext cx="475488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estructura y los resultados de un informe de análisis.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Elaborar y aplicar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listas de chequeo para validar artefactos.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una matriz de trazabilidad requisito–artefacto.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mejoras y realizar un prototipo inicial a partir de los casos de uso.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852160" y="1051560"/>
            <a:ext cx="2834640" cy="1600200"/>
          </a:xfrm>
          <a:prstGeom prst="roundRect">
            <a:avLst>
              <a:gd name="adj" fmla="val 5714"/>
            </a:avLst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1143000"/>
            <a:ext cx="28346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1965960"/>
            <a:ext cx="28346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de formación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52160" y="2834640"/>
            <a:ext cx="2834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89320" y="2926080"/>
            <a:ext cx="260604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 aprendizaje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Verificar los modelos realizados en la fase de análisis de acuerdo con lo establecido en el informe de requisitos.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Estructura del informe de análisis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669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Contenido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Introducción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Propósito, alcance, definiciones y referencias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Descripción general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Contexto, proceso intervenido, actores, metodología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Modelado funcional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Casos de uso, historias, plantillas, diagramas de actividades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Modelado de datos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de dominio y modelo entidad relación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Lógica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Reglas de negocio, algoritmos y modelos matemáticos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Verificación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Listas de chequeo, matriz de trazabilidad, ajustes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Prototipo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Pantallas iniciales y su relación con los casos de uso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Criterios de validación de los documentos de análisis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645920"/>
          </a:xfrm>
          <a:prstGeom prst="roundRect">
            <a:avLst>
              <a:gd name="adj" fmla="val 4444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4" name="num1"/>
          <p:cNvSpPr/>
          <p:nvPr/>
        </p:nvSpPr>
        <p:spPr>
          <a:xfrm>
            <a:off x="621792" y="1216152"/>
            <a:ext cx="365760" cy="36576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216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78992" y="1188720"/>
            <a:ext cx="32689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Completitud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709928"/>
            <a:ext cx="367131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requisitos están modelados; no faltan flujos ni entidades.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645920"/>
          </a:xfrm>
          <a:prstGeom prst="roundRect">
            <a:avLst>
              <a:gd name="adj" fmla="val 4444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9" name="num2"/>
          <p:cNvSpPr/>
          <p:nvPr/>
        </p:nvSpPr>
        <p:spPr>
          <a:xfrm>
            <a:off x="4850892" y="1216152"/>
            <a:ext cx="365760" cy="36576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50892" y="1216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308092" y="1188720"/>
            <a:ext cx="32689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Consistencia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50892" y="1709928"/>
            <a:ext cx="367131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modelos no se contradicen entre sí (nombres, multiplicidades, datos).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4000500" cy="1645920"/>
          </a:xfrm>
          <a:prstGeom prst="roundRect">
            <a:avLst>
              <a:gd name="adj" fmla="val 4444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14" name="num3"/>
          <p:cNvSpPr/>
          <p:nvPr/>
        </p:nvSpPr>
        <p:spPr>
          <a:xfrm>
            <a:off x="621792" y="3090672"/>
            <a:ext cx="365760" cy="36576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78992" y="3063240"/>
            <a:ext cx="32689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" y="3584448"/>
            <a:ext cx="367131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notación UML y las reglas de negocio están bien aplicadas.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86300" y="2926080"/>
            <a:ext cx="4000500" cy="1645920"/>
          </a:xfrm>
          <a:prstGeom prst="roundRect">
            <a:avLst>
              <a:gd name="adj" fmla="val 4444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9" name="num4"/>
          <p:cNvSpPr/>
          <p:nvPr/>
        </p:nvSpPr>
        <p:spPr>
          <a:xfrm>
            <a:off x="4850892" y="3090672"/>
            <a:ext cx="365760" cy="36576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50892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308092" y="3063240"/>
            <a:ext cx="32689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50892" y="3584448"/>
            <a:ext cx="367131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artefacto se relaciona con al menos un requisito, y viceversa.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Matriz de trazabilidad requisito – artefacto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X indica que el artefacto representa el requisito; una fila vacía es una alerta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1645920"/>
                <a:gridCol w="164592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Requisito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 de uso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Diagrama de actividades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 / entidad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Algoritmo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RF-01 Gestionar productos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CU-01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 productos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RF-03 Registrar ventas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CU-03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DA-01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Venta, DetalleVenta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calcularTotal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RF-04 Validar existencias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CU-03 (3a)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DA-01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validarExistencias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RF-06 Reportes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Cómo construir una buena lista de chequeo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77640" cy="502920"/>
          </a:xfrm>
          <a:prstGeom prst="roundRect">
            <a:avLst>
              <a:gd name="adj" fmla="val 14545"/>
            </a:avLst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051560"/>
            <a:ext cx="37490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Redacción de ítems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691640"/>
            <a:ext cx="3886200" cy="2880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ítem = </a:t>
            </a: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condición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verificable.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Redactado en positivo: «El diagrama incluye el límite del sistema».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Sí / No con espacio para observaciones.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Agrupado por artefacto.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09160" y="1051560"/>
            <a:ext cx="3977640" cy="502920"/>
          </a:xfrm>
          <a:prstGeom prst="roundRect">
            <a:avLst>
              <a:gd name="adj" fmla="val 14545"/>
            </a:avLst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051560"/>
            <a:ext cx="37490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691640"/>
            <a:ext cx="3886200" cy="2880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 alguien </a:t>
            </a: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distinto al autor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(verificación cruzada).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«No» se registra como </a:t>
            </a: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su ubicación.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hallazgo genera una </a:t>
            </a: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de mejora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responsable.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vuelve a verificar después del ajuste.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Prototipo inicial del software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prototipo no funcional (de baja o media fidelidad) para validar los casos de uso con el cliente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933956" cy="3063240"/>
          </a:xfrm>
          <a:prstGeom prst="roundRect">
            <a:avLst>
              <a:gd name="adj" fmla="val 3783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5" name="num1"/>
          <p:cNvSpPr/>
          <p:nvPr/>
        </p:nvSpPr>
        <p:spPr>
          <a:xfrm>
            <a:off x="1195578" y="1645920"/>
            <a:ext cx="457200" cy="45720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95578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94560"/>
            <a:ext cx="175107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 pantallas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834640"/>
            <a:ext cx="171450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o más pantallas por caso de uso priorizado.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55748" y="1508760"/>
            <a:ext cx="1933956" cy="3063240"/>
          </a:xfrm>
          <a:prstGeom prst="roundRect">
            <a:avLst>
              <a:gd name="adj" fmla="val 3783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0" name="num2"/>
          <p:cNvSpPr/>
          <p:nvPr/>
        </p:nvSpPr>
        <p:spPr>
          <a:xfrm>
            <a:off x="3294126" y="1645920"/>
            <a:ext cx="457200" cy="45720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94126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647188" y="2194560"/>
            <a:ext cx="175107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Bocetar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665476" y="2834640"/>
            <a:ext cx="171450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 en papel o en Figma, Balsamiq o Pencil.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54296" y="1508760"/>
            <a:ext cx="1933956" cy="3063240"/>
          </a:xfrm>
          <a:prstGeom prst="roundRect">
            <a:avLst>
              <a:gd name="adj" fmla="val 3783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15" name="num3"/>
          <p:cNvSpPr/>
          <p:nvPr/>
        </p:nvSpPr>
        <p:spPr>
          <a:xfrm>
            <a:off x="5392674" y="1645920"/>
            <a:ext cx="457200" cy="45720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92674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745736" y="2194560"/>
            <a:ext cx="175107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764024" y="2834640"/>
            <a:ext cx="171450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Enlazar pantallas según los flujos de los casos de uso.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752844" y="1508760"/>
            <a:ext cx="1933956" cy="3063240"/>
          </a:xfrm>
          <a:prstGeom prst="roundRect">
            <a:avLst>
              <a:gd name="adj" fmla="val 3783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20" name="num4"/>
          <p:cNvSpPr/>
          <p:nvPr/>
        </p:nvSpPr>
        <p:spPr>
          <a:xfrm>
            <a:off x="7491222" y="1645920"/>
            <a:ext cx="457200" cy="45720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91222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44284" y="2194560"/>
            <a:ext cx="175107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862572" y="2834640"/>
            <a:ext cx="171450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Recorrerlo con el cliente y registrar observaciones.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Mapa conceptual de la verificación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51206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vamos a hacer?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512064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el material sobre verificación y validación de requisitos y análisis.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Construyan un mapa conceptual con los criterios de validación de documentos.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Incluyan conectores (palabras de enlace) y ejemplos.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Socialícenlo en 5 minutos.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72200" y="105156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124712"/>
            <a:ext cx="2286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horas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205740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2130552"/>
            <a:ext cx="2286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306324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3136392"/>
            <a:ext cx="2286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conceptual de los criterios de validación (evidencia de conocimiento)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Estudio de caso: encuentre los errores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51206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vamos a hacer?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512064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Revisen el informe de análisis de ejemplo con errores intencionales.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Construyan una lista de chequeo de mínimo 15 ítems y aplíquenla.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Registren cada hallazgo con su ubicación y gravedad.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Construyan la matriz de trazabilidad del caso.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Propongan acciones de mejora y bocetén el prototipo de 3 pantallas.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72200" y="105156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124712"/>
            <a:ext cx="2286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horas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205740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2130552"/>
            <a:ext cx="2286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306324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3136392"/>
            <a:ext cx="2286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chequeo diligenciada, matriz de trazabilidad, acciones de mejora y bocetos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 y evaluación de la sesión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0B4366"/>
          </a:solidFill>
          <a:ln w="12700">
            <a:solidFill>
              <a:srgbClr val="0B436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645920"/>
            <a:ext cx="2340864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Conocimiento: explica los criterios de validación de documentos mediante un mapa conceptual.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09728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0B4366"/>
          </a:solidFill>
          <a:ln w="12700">
            <a:solidFill>
              <a:srgbClr val="0B436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01568" y="1645920"/>
            <a:ext cx="2340864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Rúbrica del mapa conceptual.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verificación del estudio de caso.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09728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0B4366"/>
          </a:solidFill>
          <a:ln w="12700">
            <a:solidFill>
              <a:srgbClr val="0B436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próxima sesión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144768" y="1645920"/>
            <a:ext cx="2340864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Tener todos los artefactos del proyecto en el repositorio.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09: informe de análisis validado y prototipo.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7D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NA ADSO">
  <a:themeElements>
    <a:clrScheme name="SENA ADSO">
      <a:dk1>
        <a:srgbClr val="1F2A33"/>
      </a:dk1>
      <a:lt1>
        <a:srgbClr val="FFFFFF"/>
      </a:lt1>
      <a:dk2>
        <a:srgbClr val="00304D"/>
      </a:dk2>
      <a:lt2>
        <a:srgbClr val="EEF5EA"/>
      </a:lt2>
      <a:accent1>
        <a:srgbClr val="39A900"/>
      </a:accent1>
      <a:accent2>
        <a:srgbClr val="00304D"/>
      </a:accent2>
      <a:accent3>
        <a:srgbClr val="50E5F9"/>
      </a:accent3>
      <a:accent4>
        <a:srgbClr val="FDC300"/>
      </a:accent4>
      <a:accent5>
        <a:srgbClr val="5A6B78"/>
      </a:accent5>
      <a:accent6>
        <a:srgbClr val="2E7D32"/>
      </a:accent6>
      <a:hlink>
        <a:srgbClr val="007BB8"/>
      </a:hlink>
      <a:folHlink>
        <a:srgbClr val="5A6B78"/>
      </a:folHlink>
    </a:clrScheme>
    <a:fontScheme name="SENA ADS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08 – Verificación de los modelos del análisis</dc:title>
  <dc:subject>PptxGenJS Presentation</dc:subject>
  <dc:creator>SENA – Centro Agroempresarial y Desarrollo Pecuario del Huila</dc:creator>
  <cp:lastModifiedBy>SENA – Centro Agroempresarial y Desarrollo Pecuario del Huila</cp:lastModifiedBy>
  <cp:revision>1</cp:revision>
  <dcterms:created xsi:type="dcterms:W3CDTF">2026-10-07T09:29:08Z</dcterms:created>
  <dcterms:modified xsi:type="dcterms:W3CDTF">2026-10-07T09:29:08Z</dcterms:modified>
</cp:coreProperties>
</file>