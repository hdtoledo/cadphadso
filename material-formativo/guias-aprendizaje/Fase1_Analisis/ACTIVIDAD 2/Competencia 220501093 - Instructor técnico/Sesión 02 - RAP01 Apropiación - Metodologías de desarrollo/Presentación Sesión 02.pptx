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7ae3638-0601-5fe2-09b3-6751d56a05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sesión desarrolla la apropiación del RAP 01. Puede ejecutarse en varias jornadas; las diapositivas siguen el orden de la guía de actividades.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con los criterios de evaluación del diseño curricular: identifica metodologías según las características del software y establece actividades de análisis según la metodología.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qué tipo de proyecto es el del equipo (normalmente desarrollo a la medida).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Ubique a los aprendices: estamos en la fase de análisis del proyecto formativo, que corresponde a requisitos y análisis del ciclo de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Mencione el Manifiesto Ágil (2001): individuos e interacciones, software funcionando, colaboración con el cliente, respuesta al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disciplinas (modelado de negocio, requisitos, análisis y diseño, implementación, pruebas, despliegue) atraviesan todas las fases con distinta intensidad.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Roles: Product Owner, Scrum Master, Developers. En el proyecto formativo el instructor puede actuar como representante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con Scrum: Scrum organiza la gestión; XP aporta prácticas de ingeniería; muchos equipos combinan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tabla es la base del cuadro comparativo del estudio de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Caso A (registro de historias clínicas, regulado) → RUP; Caso B (app de domicilios con cambios semanales) → Scrum/XP; Caso C (formulario de inscripciones urgente) → RAD. Acepte otras respuestas si están bien argumentadas.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un tablero en Trello o GitHub Projects con columnas Por hacer / En curso / Hecho. La estimación de tiempos con regla de tres la trabaja el instructor de matemáticas.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taller es práctica guiada; el plan del proyecto propio se elabora en la sesión 03 (transferencia).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Aplique el cuestionario al final de la sesión o al inicio de la siguiente jornada.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02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de desarrollo y planeación del análisis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 – Sub actividad 1: proyectos de software, metodologías tradicionales y ágiles, y planeación de actividades de análisis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proyecto de software: características, tipos y componentes.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metodologías tradicionales (RUP) y ágiles (Scrum, XP, RAD).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justificar una metodología según las características del proyecto.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actividades de análisis: priorizar, fijar cronograma y entregables.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Planear actividades de análisis de acuerdo con la metodología seleccionada.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¿Qué es un proyecto de software?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esfuerzo temporal para crear un producto de software único, con alcance, tiempo, costo y calidad definidos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5" name="num1"/>
          <p:cNvSpPr/>
          <p:nvPr/>
        </p:nvSpPr>
        <p:spPr>
          <a:xfrm>
            <a:off x="621792" y="162763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60020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21408"/>
            <a:ext cx="226161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con objetivo claro, resultado intangible, alto componente de conocimiento y requisitos que evolucionan.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3441192" y="162763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119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98392" y="160020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41192" y="2121408"/>
            <a:ext cx="226161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la medida, mantenimiento o evolución, integración de sistemas, migración y personalización de productos existentes.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5" name="num3"/>
          <p:cNvSpPr/>
          <p:nvPr/>
        </p:nvSpPr>
        <p:spPr>
          <a:xfrm>
            <a:off x="6260592" y="162763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059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17792" y="160020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0592" y="2121408"/>
            <a:ext cx="226161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cronograma, recursos y roles, costos, riesgos, entregables y criterios de calidad.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Ciclo de vida del software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metodología organiza, a su manera, estas mismas fases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234440" cy="3063240"/>
          </a:xfrm>
          <a:prstGeom prst="roundRect">
            <a:avLst>
              <a:gd name="adj" fmla="val 5926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5" name="num1"/>
          <p:cNvSpPr/>
          <p:nvPr/>
        </p:nvSpPr>
        <p:spPr>
          <a:xfrm>
            <a:off x="845820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58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1014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 el cliente.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56232" y="1508760"/>
            <a:ext cx="1234440" cy="30632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2244852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485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47672" y="219456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34640"/>
            <a:ext cx="1014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las funciones y los datos.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55264" y="1508760"/>
            <a:ext cx="1234440" cy="3063240"/>
          </a:xfrm>
          <a:prstGeom prst="roundRect">
            <a:avLst>
              <a:gd name="adj" fmla="val 5926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5" name="num3"/>
          <p:cNvSpPr/>
          <p:nvPr/>
        </p:nvSpPr>
        <p:spPr>
          <a:xfrm>
            <a:off x="3643884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438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46704" y="219456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64992" y="2834640"/>
            <a:ext cx="1014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datos e interfaces.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54296" y="1508760"/>
            <a:ext cx="1234440" cy="30632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5042916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291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45736" y="219456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64024" y="2834640"/>
            <a:ext cx="1014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e integración.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53328" y="1508760"/>
            <a:ext cx="1234440" cy="3063240"/>
          </a:xfrm>
          <a:prstGeom prst="roundRect">
            <a:avLst>
              <a:gd name="adj" fmla="val 5926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5" name="num5"/>
          <p:cNvSpPr/>
          <p:nvPr/>
        </p:nvSpPr>
        <p:spPr>
          <a:xfrm>
            <a:off x="6441948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19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44768" y="219456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2834640"/>
            <a:ext cx="1014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calidad.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52360" y="1508760"/>
            <a:ext cx="1234440" cy="30632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0" name="num6"/>
          <p:cNvSpPr/>
          <p:nvPr/>
        </p:nvSpPr>
        <p:spPr>
          <a:xfrm>
            <a:off x="7840980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409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219456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62088" y="2834640"/>
            <a:ext cx="10149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soporte.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Metodologías tradicionales y ágiles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Tradicionales (RUP, cascada)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detallada al inicio.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extensa y formal.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secuenciales o iteraciones largas.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costosos una vez aprobado el plan.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Adecuadas para requisitos estables y proyectos grandes o regulados.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Ágiles (Scrum, XP, RAD)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adaptativa por iteraciones cortas.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suficiente, centrada en el valor.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incrementales frecuentes.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bienvenido, incluso tarde.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Adecuadas para requisitos cambiantes y cliente disponible.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RUP: fases y disciplinas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Unificado Racional: dirigido por casos de uso, centrado en la arquitectura, iterativo e incremental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/ entregable principal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alcance, visión y viabilidad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de visión, casos de uso principales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Analizar el dominio y estabilizar la arquitectura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casos de uso, arquitectura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Desarrollar el producto completo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beta operativa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Entregar el producto a los usuarios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final, manuales, capacitación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Scrum en una diapositiva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trabajo ágil con 3 responsabilidades, 5 eventos y 3 artefactos (La Guía Scrum, 2020)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5" name="num1"/>
          <p:cNvSpPr/>
          <p:nvPr/>
        </p:nvSpPr>
        <p:spPr>
          <a:xfrm>
            <a:off x="985723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5723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ordenada de todo lo que necesita el producto; la gestiona el Product Owner.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36038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2664562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456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27478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45766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selecciona el trabajo del Sprint y define el objetivo.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14877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5" name="num3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06317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(1–4 semanas)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24605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Daily Scrum de 15 minutos para inspeccionar el avance.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93715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6022238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2223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85155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03443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el incremento a los interesados.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2554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5" name="num5"/>
          <p:cNvSpPr/>
          <p:nvPr/>
        </p:nvSpPr>
        <p:spPr>
          <a:xfrm>
            <a:off x="7701077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01077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63994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82282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mejora su forma de trabajar.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Programación Extrema (XP) y RAD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3520440"/>
          </a:xfrm>
          <a:prstGeom prst="roundRect">
            <a:avLst>
              <a:gd name="adj" fmla="val 282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2261616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técnicas para equipos pequeños: historias de usuario, programación en parejas, desarrollo guiado por pruebas, integración continua, entregas pequeñas y cliente en sitio.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3520440"/>
          </a:xfrm>
          <a:prstGeom prst="roundRect">
            <a:avLst>
              <a:gd name="adj" fmla="val 2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34411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11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983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1192" y="1709928"/>
            <a:ext cx="2261616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Rápido de Aplicaciones: prototipos iterativos, uso intensivo de herramientas y componentes reutilizables, ciclos de 60 a 90 días, fuerte participación del usuario.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3520440"/>
          </a:xfrm>
          <a:prstGeom prst="roundRect">
            <a:avLst>
              <a:gd name="adj" fmla="val 282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605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05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177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usarlas?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0592" y="1709928"/>
            <a:ext cx="2261616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XP: cuando la calidad del código y el cambio constante son críticos. RAD: cuando se necesita una aplicación funcional muy rápido y la interfaz es central.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Criterios para seleccionar la metodología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Favorece tradicional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Favorece ágil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 de los requisitos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 estables y completos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 cambiantes o emergentes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Participación del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Limitada, por hitos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Frecuente y activa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y criticidad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Grande, regulado, alto riesgo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Pequeño o mediano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equipo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grandes y distribuidos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de 3 a 10 personas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 de entregas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entrega final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Entregas incrementales tempranas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Estudio de caso: ¿qué metodología necesita este proyecto?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los tres casos de la guía de actividades (A, B y C).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Analicen cada caso con los cinco criterios de selección.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el cuadro comparativo y seleccionen una metodología por caso.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Identifiquen roles, artefactos y fases que usarían.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Socialicen y defiendan su elección.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3 a 4 aprendices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comparativo de metodologías con la justificación de cada caso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Planear las actividades de análisis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objetivo de la fase al cronograma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5" name="num1"/>
          <p:cNvSpPr/>
          <p:nvPr/>
        </p:nvSpPr>
        <p:spPr>
          <a:xfrm>
            <a:off x="985723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5723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actividades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Entrevistas, modelado de casos de uso, modelo de dominio, MER, algoritmos, verificación.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36038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2664562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456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27478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45766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cliente, dependencia y riesgo (MoSCoW: Must, Should, Could, Won’t).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14877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5" name="num3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06317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24605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o puntos de historia por actividad.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93715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6022238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2223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85155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03443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cada actividad según rol.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2554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5" name="num5"/>
          <p:cNvSpPr/>
          <p:nvPr/>
        </p:nvSpPr>
        <p:spPr>
          <a:xfrm>
            <a:off x="7701077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01077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63994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82282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(Gantt o Sprints) y entregables.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Taller: plan de análisis de un caso de ejemplo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Tomen el caso de la tienda «Agrosur» de la guía de actividades.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las actividades de análisis necesarias.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Priorícenlas con MoSCoW y estimen su duración.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Asignen responsables y armen el cronograma en un tablero digital.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Presenten el tablero al grupo.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planeación (Trello, Jira, GitHub Projects u hoja de cálculo)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explica las metodologías de desarrollo (tradicionales y ágiles) mediante una evaluación de conocimientos.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de metodologías de desarrollo (15 preguntas, con clave).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del estudio de caso y del taller.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mapa mental y el informe de requisitos.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03: plan de trabajo del análisis del proyecto.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02 – Metodologías de desarrollo y planeación del análisis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2026-10-07T09:29:04Z</dcterms:created>
  <dcterms:modified xsi:type="dcterms:W3CDTF">2026-10-07T09:29:04Z</dcterms:modified>
</cp:coreProperties>
</file>