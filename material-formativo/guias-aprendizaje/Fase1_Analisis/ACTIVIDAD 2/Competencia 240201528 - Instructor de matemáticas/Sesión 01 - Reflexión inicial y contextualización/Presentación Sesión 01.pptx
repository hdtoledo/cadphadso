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36a5a093-2361-328d-0421-707208526f5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sesión complementa la sesión 01 del instructor técnico. Se recomienda realizarla el mismo día, inmediatamente después del caso «el columpio del árbol».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las matemáticas de esta guía se aplican directamente al proyecto de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 15 minutos para que las parejas calculen antes de mostrar la solución.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Muestre el procedimiento: 45 × 24 = 1.080 min ÷ 60 = 18 h; 18 × 12 = 216 h; 0,08 × 120 = 9,6 ≈ 10; 216 × 8.500 = 1.836.000.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Pregunte qué cantidades aparecen en el proceso de cada equipo. Anótelas: serán el insumo del cuadro de variables (sesión 02).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Analice las preguntas con menor acierto para planear refuerzos en las sesiones 02 a 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sesión tiene una parte de apropiación (5 h) y otra de transferencia al proyecto (6 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Recoja el autodiagnóstico para planear refuerzos.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030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320040"/>
            <a:ext cx="731520" cy="69494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600200"/>
            <a:ext cx="74980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28600"/>
            <a:ext cx="411480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ADSO 228118 · Competencia 240201528 · Sesión 01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0030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28600"/>
            <a:ext cx="411480" cy="39319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54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7D3"/>
                </a:solidFill>
              </a:rPr>
              <a:t>ADSO 228118 · Competencia 240201528 · Sesión 01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7D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01 · INSTRUCTOR DE MATEMÁTICAS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7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Tecnólogo en Análisis y Desarrollo de Software 228118 · Fase 1: Análisis · Actividad de aprendizaje 2</a:t>
            </a:r>
            <a:endParaRPr lang="en-US" sz="1200" dirty="0"/>
          </a:p>
        </p:txBody>
      </p:sp>
      <p:sp>
        <p:nvSpPr>
          <p:cNvPr id="4" name="Text 0"/>
          <p:cNvSpPr/>
          <p:nvPr>
            <p:ph idx="101" type="title" hasCustomPrompt="1"/>
          </p:nvPr>
        </p:nvSpPr>
        <p:spPr>
          <a:xfrm>
            <a:off x="548640" y="160020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cantidades detrás de un proceso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632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Reflexión inicial y contextualización: estimar con porcentajes y operaciones básicas lo que cuesta un proceso manual, y diagnosticar saberes previos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069080"/>
            <a:ext cx="2478024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406908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240201528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9544" y="4069080"/>
            <a:ext cx="2176272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209544" y="4069080"/>
            <a:ext cx="2176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 01–04 (inicio)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68696" y="4069080"/>
            <a:ext cx="1188720" cy="347472"/>
          </a:xfrm>
          <a:prstGeom prst="roundRect">
            <a:avLst>
              <a:gd name="adj" fmla="val 21053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68696" y="40690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horas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Propósito de la sesión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120640" cy="3474720"/>
          </a:xfrm>
          <a:prstGeom prst="roundRect">
            <a:avLst>
              <a:gd name="adj" fmla="val 2632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47548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finalizar la sesión, el aprendiz estará en capacidad de: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00200"/>
            <a:ext cx="4754880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 operaciones básicas y porcentajes el impacto de un proceso manual.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qué información cuantitativa debe incluirse en los requisitos de un software.</a:t>
            </a:r>
            <a:endParaRPr lang="en-US" sz="16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</a:t>
            </a: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sus saberes previos en números reales, porcentajes, regla de tres y ecuaciones.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52160" y="1051560"/>
            <a:ext cx="2834640" cy="1600200"/>
          </a:xfrm>
          <a:prstGeom prst="roundRect">
            <a:avLst>
              <a:gd name="adj" fmla="val 5714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0" y="1143000"/>
            <a:ext cx="28346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965960"/>
            <a:ext cx="28346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formación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852160" y="283464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89320" y="2926080"/>
            <a:ext cx="260604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de aprendizaje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 la competencia 240201528: razonar cuantitativamente sobre el proceso objeto de intervención.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7680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Caso: la unidad productiva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768096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día se dedican 45 minutos a buscar y consolidar planillas de ventas, y el 8 % de las planillas tiene errores.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37560"/>
            <a:ext cx="76809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tienda trabaja 24 días al mes y diligencia 120 planillas mensuales. ¿Cuánto tiempo se pierde al mes y al año? ¿Cuántas planillas erróneas se generan?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7D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Lo que cuesta un proceso manual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34440"/>
            <a:ext cx="25603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h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40280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perdidas al mes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 × 24 días = 1.080 min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14300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91840" y="1234440"/>
            <a:ext cx="25603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216 h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2240280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perdidas al año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h × 12 meses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143000"/>
            <a:ext cx="2560320" cy="1920240"/>
          </a:xfrm>
          <a:prstGeom prst="roundRect">
            <a:avLst>
              <a:gd name="adj" fmla="val 4762"/>
            </a:avLst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26480" y="1234440"/>
            <a:ext cx="25603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240280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planillas con errores al mes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8 % de 120 = 9,6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291840"/>
            <a:ext cx="8229600" cy="1280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hora de trabajo cuesta </a:t>
            </a: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$8.500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la tienda pierde </a:t>
            </a: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$1.836.000</a:t>
            </a: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año solo buscando planillas: un argumento cuantitativo para el software.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¿Qué cantidades debe incluir un requisito?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4" name="num1"/>
          <p:cNvSpPr/>
          <p:nvPr/>
        </p:nvSpPr>
        <p:spPr>
          <a:xfrm>
            <a:off x="621792" y="1216152"/>
            <a:ext cx="365760" cy="36576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78992" y="118872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170992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«El sistema debe generar el reporte en menos de 3 segundos».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9" name="num2"/>
          <p:cNvSpPr/>
          <p:nvPr/>
        </p:nvSpPr>
        <p:spPr>
          <a:xfrm>
            <a:off x="4850892" y="1216152"/>
            <a:ext cx="365760" cy="36576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50892" y="1216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308092" y="118872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50892" y="170992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«Debe soportar 350 ventas diarias y 20 usuarios simultáneos».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14" name="num3"/>
          <p:cNvSpPr/>
          <p:nvPr/>
        </p:nvSpPr>
        <p:spPr>
          <a:xfrm>
            <a:off x="621792" y="3090672"/>
            <a:ext cx="365760" cy="36576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78992" y="306324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" y="358444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«El total es el subtotal más el 19 % de IVA».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86300" y="2926080"/>
            <a:ext cx="4000500" cy="1645920"/>
          </a:xfrm>
          <a:prstGeom prst="roundRect">
            <a:avLst>
              <a:gd name="adj" fmla="val 4444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9" name="num4"/>
          <p:cNvSpPr/>
          <p:nvPr/>
        </p:nvSpPr>
        <p:spPr>
          <a:xfrm>
            <a:off x="4850892" y="3090672"/>
            <a:ext cx="365760" cy="36576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50892" y="3090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308092" y="3063240"/>
            <a:ext cx="32689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50892" y="3584448"/>
            <a:ext cx="367131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«Debe alertar cuando las existencias sean menores o iguales al mínimo».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Diagnóstico de saberes matemáticos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4864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5DE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51206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vamos a hacer?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5120640" cy="2926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 el cuestionario diagnóstico de 12 preguntas sin calculadora.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sus respuestas con la clave que presenta el instructor.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en la tabla de autodiagnóstico los temas en los que falló.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Comparta con el grupo el tema que más le cuesta.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172200" y="105156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0" y="112471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minutos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20574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9360" y="2130552"/>
            <a:ext cx="22860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</a:t>
            </a:r>
            <a:endParaRPr lang="en-US" sz="12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3063240"/>
            <a:ext cx="2514600" cy="1508760"/>
          </a:xfrm>
          <a:prstGeom prst="roundRect">
            <a:avLst>
              <a:gd name="adj" fmla="val 4848"/>
            </a:avLst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09360" y="3136392"/>
            <a:ext cx="2286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 diagnóstico resuelto y tabla de autodiagnóstico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457200" y="228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Ruta matemática de la guía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933956" cy="3429000"/>
          </a:xfrm>
          <a:prstGeom prst="roundRect">
            <a:avLst>
              <a:gd name="adj" fmla="val 3783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4" name="num1"/>
          <p:cNvSpPr/>
          <p:nvPr/>
        </p:nvSpPr>
        <p:spPr>
          <a:xfrm>
            <a:off x="1195578" y="128016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95578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75107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468880"/>
            <a:ext cx="17145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modelos: proporcionalidad, porcentajes, ecuaciones y funciones.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55748" y="1143000"/>
            <a:ext cx="1933956" cy="3429000"/>
          </a:xfrm>
          <a:prstGeom prst="roundRect">
            <a:avLst>
              <a:gd name="adj" fmla="val 3783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9" name="num2"/>
          <p:cNvSpPr/>
          <p:nvPr/>
        </p:nvSpPr>
        <p:spPr>
          <a:xfrm>
            <a:off x="3294126" y="1280160"/>
            <a:ext cx="457200" cy="45720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94126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647188" y="1828800"/>
            <a:ext cx="175107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65476" y="2468880"/>
            <a:ext cx="17145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Plantear problemas: sistemas, geometría y conversiones.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54296" y="1143000"/>
            <a:ext cx="1933956" cy="3429000"/>
          </a:xfrm>
          <a:prstGeom prst="roundRect">
            <a:avLst>
              <a:gd name="adj" fmla="val 3783"/>
            </a:avLst>
          </a:prstGeom>
          <a:solidFill>
            <a:srgbClr val="EEF5EA"/>
          </a:solidFill>
          <a:ln w="12700">
            <a:solidFill>
              <a:srgbClr val="EEF5EA"/>
            </a:solidFill>
            <a:prstDash val="solid"/>
          </a:ln>
        </p:spPr>
      </p:sp>
      <p:sp>
        <p:nvSpPr>
          <p:cNvPr id="14" name="num3"/>
          <p:cNvSpPr/>
          <p:nvPr/>
        </p:nvSpPr>
        <p:spPr>
          <a:xfrm>
            <a:off x="5392674" y="1280160"/>
            <a:ext cx="457200" cy="457200"/>
          </a:xfrm>
          <a:prstGeom prst="ellipse">
            <a:avLst/>
          </a:prstGeom>
          <a:solidFill>
            <a:srgbClr val="39A900"/>
          </a:solidFill>
          <a:ln w="12700">
            <a:solidFill>
              <a:srgbClr val="39A9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92674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45736" y="1828800"/>
            <a:ext cx="175107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764024" y="2468880"/>
            <a:ext cx="17145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ecuaciones y analizar datos con estadística.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52844" y="1143000"/>
            <a:ext cx="1933956" cy="3429000"/>
          </a:xfrm>
          <a:prstGeom prst="roundRect">
            <a:avLst>
              <a:gd name="adj" fmla="val 3783"/>
            </a:avLst>
          </a:prstGeom>
          <a:solidFill>
            <a:srgbClr val="F4F7F9"/>
          </a:solidFill>
          <a:ln w="12700">
            <a:solidFill>
              <a:srgbClr val="F4F7F9"/>
            </a:solidFill>
            <a:prstDash val="solid"/>
          </a:ln>
        </p:spPr>
      </p:sp>
      <p:sp>
        <p:nvSpPr>
          <p:cNvPr id="19" name="num4"/>
          <p:cNvSpPr/>
          <p:nvPr/>
        </p:nvSpPr>
        <p:spPr>
          <a:xfrm>
            <a:off x="7491222" y="1280160"/>
            <a:ext cx="457200" cy="457200"/>
          </a:xfrm>
          <a:prstGeom prst="ellipse">
            <a:avLst/>
          </a:prstGeom>
          <a:solidFill>
            <a:srgbClr val="00304D"/>
          </a:solidFill>
          <a:ln w="12700">
            <a:solidFill>
              <a:srgbClr val="00304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1222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844284" y="1828800"/>
            <a:ext cx="175107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62572" y="2468880"/>
            <a:ext cx="171450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resultados y proponer mejoras.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A6B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 y evaluación de la sesión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Cálculos del caso de la unidad productiva (formativa).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 diagnóstico (línea de base).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015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Cuestionario diagnóstico de matemáticas (con clave).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560320" cy="3429000"/>
          </a:xfrm>
          <a:prstGeom prst="roundRect">
            <a:avLst>
              <a:gd name="adj" fmla="val 2857"/>
            </a:avLst>
          </a:prstGeom>
          <a:solidFill>
            <a:srgbClr val="0B4366"/>
          </a:solidFill>
          <a:ln w="12700">
            <a:solidFill>
              <a:srgbClr val="0B43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172200" y="1188720"/>
            <a:ext cx="22860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próxima sesión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144768" y="1645920"/>
            <a:ext cx="2340864" cy="2788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Traer el mapa mental del proceso del proyecto (sesión 01 técnica).</a:t>
            </a:r>
            <a:endParaRPr lang="en-US" sz="14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02: modelos matemáticos del proceso.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C7D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A ADSO">
  <a:themeElements>
    <a:clrScheme name="SENA ADSO">
      <a:dk1>
        <a:srgbClr val="1F2A33"/>
      </a:dk1>
      <a:lt1>
        <a:srgbClr val="FFFFFF"/>
      </a:lt1>
      <a:dk2>
        <a:srgbClr val="00304D"/>
      </a:dk2>
      <a:lt2>
        <a:srgbClr val="EEF5EA"/>
      </a:lt2>
      <a:accent1>
        <a:srgbClr val="39A900"/>
      </a:accent1>
      <a:accent2>
        <a:srgbClr val="00304D"/>
      </a:accent2>
      <a:accent3>
        <a:srgbClr val="50E5F9"/>
      </a:accent3>
      <a:accent4>
        <a:srgbClr val="FDC300"/>
      </a:accent4>
      <a:accent5>
        <a:srgbClr val="5A6B78"/>
      </a:accent5>
      <a:accent6>
        <a:srgbClr val="2E7D32"/>
      </a:accent6>
      <a:hlink>
        <a:srgbClr val="007BB8"/>
      </a:hlink>
      <a:folHlink>
        <a:srgbClr val="5A6B78"/>
      </a:folHlink>
    </a:clrScheme>
    <a:fontScheme name="SENA ADS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01 – Las cantidades detrás de un proceso</dc:title>
  <dc:subject>PptxGenJS Presentation</dc:subject>
  <dc:creator>SENA – Centro Agroempresarial y Desarrollo Pecuario del Huila</dc:creator>
  <cp:lastModifiedBy>SENA – Centro Agroempresarial y Desarrollo Pecuario del Huila</cp:lastModifiedBy>
  <cp:revision>1</cp:revision>
  <dcterms:created xsi:type="dcterms:W3CDTF">2026-10-07T09:29:09Z</dcterms:created>
  <dcterms:modified xsi:type="dcterms:W3CDTF">2026-10-07T09:29:09Z</dcterms:modified>
</cp:coreProperties>
</file>